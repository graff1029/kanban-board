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884319de-e083-f0b0-0817-ccab34fd7aa1}">
          <p14:sldIdLst>
            <p14:sldId id="256"/>
            <p14:sldId id="257"/>
          </p14:sldIdLst>
        </p14:section>
        <p14:section name="Архитектура" id="{05737240-abb6-c610-97d4-751a83faa360}">
          <p14:sldIdLst>
            <p14:sldId id="258"/>
            <p14:sldId id="259"/>
            <p14:sldId id="260"/>
          </p14:sldIdLst>
        </p14:section>
        <p14:section name="Функции" id="{75656cac-3874-2cea-953f-a64024cde9b8}">
          <p14:sldIdLst>
            <p14:sldId id="261"/>
            <p14:sldId id="262"/>
          </p14:sldIdLst>
        </p14:section>
        <p14:section name="Качество" id="{8120d11a-ac8c-8ecf-87f3-72ea7ebe760e}">
          <p14:sldIdLst>
            <p14:sldId id="263"/>
            <p14:sldId id="264"/>
          </p14:sldIdLst>
        </p14:section>
        <p14:section name="Итоги" id="{f56cf2df-3f66-23ea-6d5c-74e9dde2f46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Представляем учебное приложение для задач команды. В начале защиты называем себя и группу. Исходное задание: приложенная лабораторная работа №16.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проект и доску. Все проекты общие для пользователей этой учебной установки. Функции проверяются в tests/test_api.py.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выбран для понятного кода и простого запуска. Обоснование и альтернативы находятся в STACK.md.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небольшой монолит со слоями контроллеров, сервисов и доступа к данным. models.py проверяет поля.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находится в migration.sql. Внешние ключи сохраняют связи, индексы ускоряют поиск. Номер миграции хранится в PRAGMA user_version.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Права проверяются сервером при каждом запросе. Скрытие кнопки в браузере служит удобству. Первый аккаунт становится администратором, остальные получают роль разработчика.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перетаскивание и ошибку при заполненной колонке. Для большого количества карточек используется вывод по 200 задач на страницу.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Фактические результаты находятся в REPORT.md. Покрытие измеряет app.py, services.py, db.py и models.py. Это не оценка покрытия JavaScript и не гарантия отсутствия ошибок.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Токен хранится только в памяти вкладки. Для HTTPS подготовлен Caddy. Пайплайн требует размещения проекта в GitHub, развёртывание требует сервера и секретов. Зависимости проверены pip-audit, детали в REPORT.md.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фактические показатели нагрузки из REPORT.md. Требование API менее 200 мс при 1000 пользователях оцениваем по результатам, а не по наличию тестового сценария. HTTPS, ZAP и деплой требуют отдельной проверки в подходящем окружении.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737360"/>
            <a:ext cx="86868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5204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22960" y="521208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Kanban-доска · Лабораторная работа № 16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Kanban-доска · Лабораторная работа № 16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73736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Kanban-доска</a:t>
            </a:r>
            <a:endParaRPr lang="en-US" sz="6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5204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Разработка и тестирование веб-приложения</a:t>
            </a:r>
            <a:endParaRPr lang="en-US" sz="2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822960" y="5212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Лабораторная работа № 16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Поддержка и тестирование программных модулей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Задача приложения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Команда создаёт проект и ведёт задачи на общей доске.</a:t>
            </a:r>
            <a:endParaRPr lang="en-US" sz="2200" dirty="0"/>
          </a:p>
          <a:p>
            <a:pPr marL="279400" indent="-2794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Карточки распределяются по колонкам и меняют статус.</a:t>
            </a:r>
            <a:endParaRPr lang="en-US" sz="2200" dirty="0"/>
          </a:p>
          <a:p>
            <a:pPr marL="279400" indent="-2794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У задачи есть исполнитель, срок, метки и приоритет.</a:t>
            </a:r>
            <a:endParaRPr lang="en-US" sz="2200" dirty="0"/>
          </a:p>
          <a:p>
            <a:pPr marL="279400" indent="-2794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Комментарии, файлы и история сохраняются в базе.</a:t>
            </a:r>
            <a:endParaRPr lang="en-US" sz="2200" dirty="0"/>
          </a:p>
        </p:txBody>
      </p:sp>
      <p:sp>
        <p:nvSpPr>
          <p:cNvPr id="4" name="Колонка К выполнению"/>
          <p:cNvSpPr/>
          <p:nvPr/>
        </p:nvSpPr>
        <p:spPr>
          <a:xfrm>
            <a:off x="6766560" y="1600200"/>
            <a:ext cx="150876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90372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К выполнению</a:t>
            </a:r>
            <a:endParaRPr lang="en-US" sz="1300" dirty="0"/>
          </a:p>
        </p:txBody>
      </p:sp>
      <p:sp>
        <p:nvSpPr>
          <p:cNvPr id="6" name="Карточка К выполнению 1"/>
          <p:cNvSpPr/>
          <p:nvPr/>
        </p:nvSpPr>
        <p:spPr>
          <a:xfrm>
            <a:off x="6903720" y="2240280"/>
            <a:ext cx="123444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Строка"/>
          <p:cNvSpPr/>
          <p:nvPr/>
        </p:nvSpPr>
        <p:spPr>
          <a:xfrm>
            <a:off x="7022592" y="2423160"/>
            <a:ext cx="996696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8" name="Строка"/>
          <p:cNvSpPr/>
          <p:nvPr/>
        </p:nvSpPr>
        <p:spPr>
          <a:xfrm>
            <a:off x="7022592" y="2606040"/>
            <a:ext cx="647852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Метка"/>
          <p:cNvSpPr/>
          <p:nvPr/>
        </p:nvSpPr>
        <p:spPr>
          <a:xfrm>
            <a:off x="7022592" y="2898648"/>
            <a:ext cx="27432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Карточка К выполнению 2"/>
          <p:cNvSpPr/>
          <p:nvPr/>
        </p:nvSpPr>
        <p:spPr>
          <a:xfrm>
            <a:off x="6903720" y="3337560"/>
            <a:ext cx="123444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Строка"/>
          <p:cNvSpPr/>
          <p:nvPr/>
        </p:nvSpPr>
        <p:spPr>
          <a:xfrm>
            <a:off x="7022592" y="3520440"/>
            <a:ext cx="996696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Строка"/>
          <p:cNvSpPr/>
          <p:nvPr/>
        </p:nvSpPr>
        <p:spPr>
          <a:xfrm>
            <a:off x="7022592" y="3703320"/>
            <a:ext cx="647852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3" name="Метка"/>
          <p:cNvSpPr/>
          <p:nvPr/>
        </p:nvSpPr>
        <p:spPr>
          <a:xfrm>
            <a:off x="7022592" y="3995928"/>
            <a:ext cx="274320" cy="914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Карточка К выполнению 3"/>
          <p:cNvSpPr/>
          <p:nvPr/>
        </p:nvSpPr>
        <p:spPr>
          <a:xfrm>
            <a:off x="6903720" y="4434840"/>
            <a:ext cx="123444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Строка"/>
          <p:cNvSpPr/>
          <p:nvPr/>
        </p:nvSpPr>
        <p:spPr>
          <a:xfrm>
            <a:off x="7022592" y="4617720"/>
            <a:ext cx="996696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Строка"/>
          <p:cNvSpPr/>
          <p:nvPr/>
        </p:nvSpPr>
        <p:spPr>
          <a:xfrm>
            <a:off x="7022592" y="4800600"/>
            <a:ext cx="647852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7" name="Метка"/>
          <p:cNvSpPr/>
          <p:nvPr/>
        </p:nvSpPr>
        <p:spPr>
          <a:xfrm>
            <a:off x="7022592" y="5093208"/>
            <a:ext cx="274320" cy="914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Колонка В работе"/>
          <p:cNvSpPr/>
          <p:nvPr/>
        </p:nvSpPr>
        <p:spPr>
          <a:xfrm>
            <a:off x="8449056" y="1600200"/>
            <a:ext cx="150876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86216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В работе</a:t>
            </a:r>
            <a:endParaRPr lang="en-US" sz="1300" dirty="0"/>
          </a:p>
        </p:txBody>
      </p:sp>
      <p:sp>
        <p:nvSpPr>
          <p:cNvPr id="20" name="Карточка В работе 1"/>
          <p:cNvSpPr/>
          <p:nvPr/>
        </p:nvSpPr>
        <p:spPr>
          <a:xfrm>
            <a:off x="8586216" y="2240280"/>
            <a:ext cx="123444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Строка"/>
          <p:cNvSpPr/>
          <p:nvPr/>
        </p:nvSpPr>
        <p:spPr>
          <a:xfrm>
            <a:off x="8705088" y="2423160"/>
            <a:ext cx="996696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2" name="Строка"/>
          <p:cNvSpPr/>
          <p:nvPr/>
        </p:nvSpPr>
        <p:spPr>
          <a:xfrm>
            <a:off x="8705088" y="2606040"/>
            <a:ext cx="647852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3" name="Метка"/>
          <p:cNvSpPr/>
          <p:nvPr/>
        </p:nvSpPr>
        <p:spPr>
          <a:xfrm>
            <a:off x="8705088" y="2898648"/>
            <a:ext cx="27432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Карточка В работе 2"/>
          <p:cNvSpPr/>
          <p:nvPr/>
        </p:nvSpPr>
        <p:spPr>
          <a:xfrm>
            <a:off x="8586216" y="3337560"/>
            <a:ext cx="123444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Строка"/>
          <p:cNvSpPr/>
          <p:nvPr/>
        </p:nvSpPr>
        <p:spPr>
          <a:xfrm>
            <a:off x="8705088" y="3520440"/>
            <a:ext cx="996696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6" name="Строка"/>
          <p:cNvSpPr/>
          <p:nvPr/>
        </p:nvSpPr>
        <p:spPr>
          <a:xfrm>
            <a:off x="8705088" y="3703320"/>
            <a:ext cx="647852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7" name="Метка"/>
          <p:cNvSpPr/>
          <p:nvPr/>
        </p:nvSpPr>
        <p:spPr>
          <a:xfrm>
            <a:off x="8705088" y="3995928"/>
            <a:ext cx="274320" cy="914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" name="Колонка Готово"/>
          <p:cNvSpPr/>
          <p:nvPr/>
        </p:nvSpPr>
        <p:spPr>
          <a:xfrm>
            <a:off x="10131552" y="1600200"/>
            <a:ext cx="150876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268712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Готово</a:t>
            </a:r>
            <a:endParaRPr lang="en-US" sz="1300" dirty="0"/>
          </a:p>
        </p:txBody>
      </p:sp>
      <p:sp>
        <p:nvSpPr>
          <p:cNvPr id="30" name="Карточка Готово 1"/>
          <p:cNvSpPr/>
          <p:nvPr/>
        </p:nvSpPr>
        <p:spPr>
          <a:xfrm>
            <a:off x="10268712" y="2240280"/>
            <a:ext cx="123444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Строка"/>
          <p:cNvSpPr/>
          <p:nvPr/>
        </p:nvSpPr>
        <p:spPr>
          <a:xfrm>
            <a:off x="10387584" y="2423160"/>
            <a:ext cx="996696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Строка"/>
          <p:cNvSpPr/>
          <p:nvPr/>
        </p:nvSpPr>
        <p:spPr>
          <a:xfrm>
            <a:off x="10387584" y="2606040"/>
            <a:ext cx="647852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3" name="Метка"/>
          <p:cNvSpPr/>
          <p:nvPr/>
        </p:nvSpPr>
        <p:spPr>
          <a:xfrm>
            <a:off x="10387584" y="2898648"/>
            <a:ext cx="27432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Карточка Готово 2"/>
          <p:cNvSpPr/>
          <p:nvPr/>
        </p:nvSpPr>
        <p:spPr>
          <a:xfrm>
            <a:off x="10268712" y="3337560"/>
            <a:ext cx="123444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Строка"/>
          <p:cNvSpPr/>
          <p:nvPr/>
        </p:nvSpPr>
        <p:spPr>
          <a:xfrm>
            <a:off x="10387584" y="3520440"/>
            <a:ext cx="996696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6" name="Строка"/>
          <p:cNvSpPr/>
          <p:nvPr/>
        </p:nvSpPr>
        <p:spPr>
          <a:xfrm>
            <a:off x="10387584" y="3703320"/>
            <a:ext cx="647852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7" name="Метка"/>
          <p:cNvSpPr/>
          <p:nvPr/>
        </p:nvSpPr>
        <p:spPr>
          <a:xfrm>
            <a:off x="10387584" y="3995928"/>
            <a:ext cx="274320" cy="914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Выбранные технологии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Python и FastAPI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Отвечают за сервер и REST API.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93815" y="1691640"/>
            <a:ext cx="534924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93815" y="19202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SQLite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293815" y="26060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Хранит данные в одном файле.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34924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0233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HTML, CSS и JavaScript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0916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Создают интерфейс на обычном JavaScript.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93815" y="3794760"/>
            <a:ext cx="534924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93815" y="40233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Pytest и Playwright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293815" y="470916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Проверяют API и действия в браузере.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Устройство проекта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5544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принимает HTTP-запросы и проверяет формат данных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448495" y="1554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контроллер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9441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services.py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651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выполняет правила приложения и проверяет права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448495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сервис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109441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49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db.py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749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открывает базу и выполняет SQL-запросы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448495" y="3749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доступ к данным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441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46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846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папка со страницей, стилями и скриптом доски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448495" y="4846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интерфейс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943600"/>
            <a:ext cx="1109441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Хранение данных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Пользователи и сеансы отвечают за вход в приложение.</a:t>
            </a:r>
            <a:endParaRPr lang="en-US" sz="2000" dirty="0"/>
          </a:p>
          <a:p>
            <a:pPr marL="279400" indent="-2794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Проект содержит доски, доска содержит колонки.</a:t>
            </a:r>
            <a:endParaRPr lang="en-US" sz="2000" dirty="0"/>
          </a:p>
          <a:p>
            <a:pPr marL="279400" indent="-2794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Задача относится к колонке и может иметь исполнителя.</a:t>
            </a:r>
            <a:endParaRPr lang="en-US" sz="2000" dirty="0"/>
          </a:p>
          <a:p>
            <a:pPr marL="279400" indent="-2794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Комментарии, история и вложения связаны с задачей.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60920" y="2103120"/>
            <a:ext cx="539496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500616" y="2103120"/>
            <a:ext cx="539496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0840212" y="2514600"/>
            <a:ext cx="0" cy="68580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60920" y="3611880"/>
            <a:ext cx="2679192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7900416" y="32826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исполнитель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840212" y="4023360"/>
            <a:ext cx="0" cy="41148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0820" y="4434840"/>
            <a:ext cx="4279392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0820" y="4434840"/>
            <a:ext cx="0" cy="41148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00516" y="4434840"/>
            <a:ext cx="0" cy="41148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840212" y="4434840"/>
            <a:ext cx="0" cy="41148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Проект"/>
          <p:cNvSpPr txBox="1"/>
          <p:nvPr/>
        </p:nvSpPr>
        <p:spPr>
          <a:xfrm>
            <a:off x="5760720" y="1691640"/>
            <a:ext cx="160020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Проект</a:t>
            </a:r>
            <a:endParaRPr lang="en-US" sz="1600" dirty="0"/>
          </a:p>
        </p:txBody>
      </p:sp>
      <p:sp>
        <p:nvSpPr>
          <p:cNvPr id="15" name="Доска"/>
          <p:cNvSpPr txBox="1"/>
          <p:nvPr/>
        </p:nvSpPr>
        <p:spPr>
          <a:xfrm>
            <a:off x="7900416" y="1691640"/>
            <a:ext cx="160020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Доска</a:t>
            </a:r>
            <a:endParaRPr lang="en-US" sz="1600" dirty="0"/>
          </a:p>
        </p:txBody>
      </p:sp>
      <p:sp>
        <p:nvSpPr>
          <p:cNvPr id="16" name="Колонка"/>
          <p:cNvSpPr txBox="1"/>
          <p:nvPr/>
        </p:nvSpPr>
        <p:spPr>
          <a:xfrm>
            <a:off x="10040112" y="1691640"/>
            <a:ext cx="160020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Колонка</a:t>
            </a:r>
            <a:endParaRPr lang="en-US" sz="1600" dirty="0"/>
          </a:p>
        </p:txBody>
      </p:sp>
      <p:sp>
        <p:nvSpPr>
          <p:cNvPr id="17" name="Пользователи"/>
          <p:cNvSpPr txBox="1"/>
          <p:nvPr/>
        </p:nvSpPr>
        <p:spPr>
          <a:xfrm>
            <a:off x="5760720" y="3200400"/>
            <a:ext cx="160020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Пользователи и сеансы</a:t>
            </a:r>
            <a:endParaRPr lang="en-US" sz="1600" dirty="0"/>
          </a:p>
        </p:txBody>
      </p:sp>
      <p:sp>
        <p:nvSpPr>
          <p:cNvPr id="18" name="Задача"/>
          <p:cNvSpPr txBox="1"/>
          <p:nvPr/>
        </p:nvSpPr>
        <p:spPr>
          <a:xfrm>
            <a:off x="10040112" y="3200400"/>
            <a:ext cx="1600200" cy="82296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Задача</a:t>
            </a:r>
            <a:endParaRPr lang="en-US" sz="1600" dirty="0"/>
          </a:p>
        </p:txBody>
      </p:sp>
      <p:sp>
        <p:nvSpPr>
          <p:cNvPr id="19" name="Комментарии"/>
          <p:cNvSpPr txBox="1"/>
          <p:nvPr/>
        </p:nvSpPr>
        <p:spPr>
          <a:xfrm>
            <a:off x="5760720" y="4846320"/>
            <a:ext cx="160020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Комментарии</a:t>
            </a:r>
            <a:endParaRPr lang="en-US" sz="1600" dirty="0"/>
          </a:p>
        </p:txBody>
      </p:sp>
      <p:sp>
        <p:nvSpPr>
          <p:cNvPr id="20" name="История"/>
          <p:cNvSpPr txBox="1"/>
          <p:nvPr/>
        </p:nvSpPr>
        <p:spPr>
          <a:xfrm>
            <a:off x="7900416" y="4846320"/>
            <a:ext cx="160020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История</a:t>
            </a:r>
            <a:endParaRPr lang="en-US" sz="1600" dirty="0"/>
          </a:p>
        </p:txBody>
      </p:sp>
      <p:sp>
        <p:nvSpPr>
          <p:cNvPr id="21" name="Вложения"/>
          <p:cNvSpPr txBox="1"/>
          <p:nvPr/>
        </p:nvSpPr>
        <p:spPr>
          <a:xfrm>
            <a:off x="10040112" y="4846320"/>
            <a:ext cx="160020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Вложения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Роли участников</a:t>
            </a:r>
            <a:endParaRPr lang="en-US" sz="3600" dirty="0"/>
          </a:p>
        </p:txBody>
      </p:sp>
      <p:graphicFrame>
        <p:nvGraphicFramePr>
          <p:cNvPr id="7" name="Таблица ролей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619695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Роль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Возможности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8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4E8C"/>
                          </a:solidFill>
                        </a:rPr>
                        <a:t>Администратор</a:t>
                      </a:r>
                      <a:endParaRPr lang="en-US" sz="20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</a:rPr>
                        <a:t>Работа с доской и назначение ролей</a:t>
                      </a:r>
                      <a:endParaRPr lang="en-US" sz="20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4E8C"/>
                          </a:solidFill>
                        </a:rPr>
                        <a:t>Менеджер</a:t>
                      </a:r>
                      <a:endParaRPr lang="en-US" sz="20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</a:rPr>
                        <a:t>Проекты, доски, колонки и задачи</a:t>
                      </a:r>
                      <a:endParaRPr lang="en-US" sz="20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4E8C"/>
                          </a:solidFill>
                        </a:rPr>
                        <a:t>Разработчик</a:t>
                      </a:r>
                      <a:endParaRPr lang="en-US" sz="20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</a:rPr>
                        <a:t>Задачи, комментарии и вложения</a:t>
                      </a:r>
                      <a:endParaRPr lang="en-US" sz="20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Права проверяются сервером при каждом запросе.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Работа с задачей</a:t>
            </a:r>
            <a:endParaRPr lang="en-US" sz="3600" dirty="0"/>
          </a:p>
        </p:txBody>
      </p:sp>
      <p:sp>
        <p:nvSpPr>
          <p:cNvPr id="3" name="Шаг 1"/>
          <p:cNvSpPr/>
          <p:nvPr/>
        </p:nvSpPr>
        <p:spPr>
          <a:xfrm>
            <a:off x="548640" y="1645920"/>
            <a:ext cx="3210458" cy="2286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6618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Карточка меняет колонку перетаскиванием или через форму.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850538" y="2788920"/>
            <a:ext cx="5486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Шаг 2"/>
          <p:cNvSpPr/>
          <p:nvPr/>
        </p:nvSpPr>
        <p:spPr>
          <a:xfrm>
            <a:off x="4490618" y="1645920"/>
            <a:ext cx="3210458" cy="2286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64938" y="1874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764938" y="2606040"/>
            <a:ext cx="26618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WIP-лимит ограничивает число задач в колонке.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92517" y="2788920"/>
            <a:ext cx="5486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Шаг 3"/>
          <p:cNvSpPr/>
          <p:nvPr/>
        </p:nvSpPr>
        <p:spPr>
          <a:xfrm>
            <a:off x="8432597" y="1645920"/>
            <a:ext cx="3210458" cy="2286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06917" y="1874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706917" y="2606040"/>
            <a:ext cx="26618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Сервер проверяет лимит внутри транзакции.</a:t>
            </a:r>
            <a:endParaRPr lang="en-US" sz="1900" dirty="0"/>
          </a:p>
        </p:txBody>
      </p:sp>
      <p:sp>
        <p:nvSpPr>
          <p:cNvPr id="14" name="Поиск и фильтры"/>
          <p:cNvSpPr/>
          <p:nvPr/>
        </p:nvSpPr>
        <p:spPr>
          <a:xfrm>
            <a:off x="548640" y="4480560"/>
            <a:ext cx="11094415" cy="1097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48056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Поиск и фильтры помогают найти нужные карточки.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Автоматические проверки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23164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30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модульных и API-проверок прошли успешно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642284" y="1737360"/>
            <a:ext cx="23164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100%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642284" y="28803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покрытие серверных строк и ветвей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22244" y="1828800"/>
            <a:ext cx="0" cy="210312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5888" y="1737360"/>
            <a:ext cx="23164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10 000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415888" y="28803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карточек в отдельном тесте базы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5848" y="1828800"/>
            <a:ext cx="0" cy="210312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89491" y="1737360"/>
            <a:ext cx="23164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E2E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9189491" y="28803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сценарий проверяет полный путь пользователя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869451" y="1828800"/>
            <a:ext cx="0" cy="210312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4" name="Пояснение"/>
          <p:cNvSpPr/>
          <p:nvPr/>
        </p:nvSpPr>
        <p:spPr>
          <a:xfrm>
            <a:off x="548640" y="4800600"/>
            <a:ext cx="11094415" cy="1097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8006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Покрытие измеряет серверный код: app.py, services.py, db.py и models.py. Это не оценка JavaScript и не гарантия отсутствия ошибок.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Безопасность и запуск проверок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Пароли и вход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554480"/>
            <a:ext cx="8168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Пароли хешируются bcrypt, вход использует JWT.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9441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SQL и интерфейс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468880"/>
            <a:ext cx="8168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SQL получает значения через параметры, UI выводит текст.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9441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API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383280"/>
            <a:ext cx="8168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API проверяет роли, поля и размер вложений.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109441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97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297680"/>
            <a:ext cx="8168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GitHub Actions запускает тесты, сборку и сканирование.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109441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6" name="Токен"/>
          <p:cNvSpPr/>
          <p:nvPr/>
        </p:nvSpPr>
        <p:spPr>
          <a:xfrm>
            <a:off x="548640" y="539496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3949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Токен хранится только в памяти вкладки.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Результат и ограничения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Результат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Основные функции доски работают в учебном приложении.</a:t>
            </a:r>
            <a:endParaRPr lang="en-US" sz="2200" dirty="0"/>
          </a:p>
          <a:p>
            <a:pPr marL="279400" indent="-2794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Инструкция запуска, тесты и отчёт входят в проект.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737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Ограничения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265176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Нагрузочный тест показывает пределы этой версии.</a:t>
            </a:r>
            <a:endParaRPr lang="en-US" sz="2200" dirty="0"/>
          </a:p>
          <a:p>
            <a:pPr marL="279400" indent="-2794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Промышленную доступность 99,9% нужно проверять отдельно.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99048" y="1737360"/>
            <a:ext cx="0" cy="39319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1908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nban plain">
  <a:themeElements>
    <a:clrScheme name="Kanban plain">
      <a:dk1>
        <a:srgbClr val="1E293B"/>
      </a:dk1>
      <a:lt1>
        <a:srgbClr val="FFFFFF"/>
      </a:lt1>
      <a:dk2>
        <a:srgbClr val="475569"/>
      </a:dk2>
      <a:lt2>
        <a:srgbClr val="F1F5F9"/>
      </a:lt2>
      <a:accent1>
        <a:srgbClr val="1F4E8C"/>
      </a:accent1>
      <a:accent2>
        <a:srgbClr val="64748B"/>
      </a:accent2>
      <a:accent3>
        <a:srgbClr val="5B8DD6"/>
      </a:accent3>
      <a:accent4>
        <a:srgbClr val="94A3B8"/>
      </a:accent4>
      <a:accent5>
        <a:srgbClr val="CBD5E1"/>
      </a:accent5>
      <a:accent6>
        <a:srgbClr val="0F766E"/>
      </a:accent6>
      <a:hlink>
        <a:srgbClr val="1F4E8C"/>
      </a:hlink>
      <a:folHlink>
        <a:srgbClr val="64748B"/>
      </a:folHlink>
    </a:clrScheme>
    <a:fontScheme name="Kanban 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Kanban-доска</dc:title>
  <dc:subject>PptxGenJS Presentation</dc:subject>
  <dc:creator>PptxGenJS</dc:creator>
  <cp:lastModifiedBy>PptxGenJS</cp:lastModifiedBy>
  <cp:revision>1</cp:revision>
  <dcterms:created xsi:type="dcterms:W3CDTF">2026-10-19T03:10:04Z</dcterms:created>
  <dcterms:modified xsi:type="dcterms:W3CDTF">2026-10-19T03:10:04Z</dcterms:modified>
</cp:coreProperties>
</file>